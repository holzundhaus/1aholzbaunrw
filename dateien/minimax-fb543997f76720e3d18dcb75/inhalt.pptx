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nrw.tumblr.com/post/831009722797785088/anschlussfuge-holzanbau-detail" TargetMode="External"/><Relationship Id="rId3" Type="http://schemas.openxmlformats.org/officeDocument/2006/relationships/hyperlink" Target="https://holzundhaus.github.io/1aholzbaunrw/dateien/minimax-fb543997f76720e3d18dcb7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Anschlussfuge beim Holzanbau: Feuchtigkeit, Wärmebrücke und Lastübergang im Detail · Erklärende Präsentation</a:t>
            </a:r>
          </a:p>
        </p:txBody>
      </p:sp>
      <p:sp>
        <p:nvSpPr>
          <p:cNvPr id="3" name="Content Placeholder 2"/>
          <p:cNvSpPr>
            <a:spLocks noGrp="1"/>
          </p:cNvSpPr>
          <p:nvPr>
            <p:ph idx="1"/>
          </p:nvPr>
        </p:nvSpPr>
        <p:spPr/>
        <p:txBody>
          <a:bodyPr/>
          <a:lstStyle/>
          <a:p>
            <a:r>
              <a:t>Überblick: Die Anschlussfuge zwischen Bestandsgebäude und Holzanbau ist weit mehr als ein baulicher Spalt. Sie entscheidet über die Dauerhaftigkeit, den Wohnkomfort und die Energieeffizienz des gesamten Projekts. Wer diese Schnittstelle von Anfang an als eigenständiges Planungsthema behandelt, spart sich spätere Nachbesserungen und schützt die Holzkonstruktion vor Feuchteschäden.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Materialvielfalt für die Fugenabdichtung</a:t>
            </a:r>
          </a:p>
        </p:txBody>
      </p:sp>
      <p:sp>
        <p:nvSpPr>
          <p:cNvPr id="3" name="Content Placeholder 2"/>
          <p:cNvSpPr>
            <a:spLocks noGrp="1"/>
          </p:cNvSpPr>
          <p:nvPr>
            <p:ph idx="1"/>
          </p:nvPr>
        </p:nvSpPr>
        <p:spPr/>
        <p:txBody>
          <a:bodyPr/>
          <a:lstStyle/>
          <a:p>
            <a:pPr>
              <a:defRPr sz="1800"/>
            </a:pPr>
            <a:r>
              <a:t>Für die Ausführung einer Anschlussfuge stehen verschiedene Materialsysteme zur Verfügung, die je nach Fugenbreite und Bewegungsanforderung gewählt werden. Komprimierbare Dämmstreifen aus Mineralfaser oder Polyurethan eignen sich für breitere Fugen und ermöglichen den necessary Ausgleich thermisch bedingter Bewegungen. Hartschaumprofile bieten eine höhere Druckfestigkeit und werden häufig im Bereich von Auflagern eingesetzt. Für die äußere Abdichtung kommen diffusionsoffene, aber wasserabweisende Bahnen zum Einsatz, die Regenwasser zuverlässig ableiten, während sie gleichzeitig den Feuchtigkeitstransport aus der Konstruktion heraus nicht behin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Materialvielfalt für die Fugenabdichtung</a:t>
            </a:r>
          </a:p>
        </p:txBody>
      </p:sp>
      <p:sp>
        <p:nvSpPr>
          <p:cNvPr id="3" name="Content Placeholder 2"/>
          <p:cNvSpPr>
            <a:spLocks noGrp="1"/>
          </p:cNvSpPr>
          <p:nvPr>
            <p:ph idx="1"/>
          </p:nvPr>
        </p:nvSpPr>
        <p:spPr/>
        <p:txBody>
          <a:bodyPr/>
          <a:lstStyle/>
          <a:p>
            <a:pPr>
              <a:defRPr sz="1800"/>
            </a:pPr>
            <a:r>
              <a:t>dern. Die innere Dichtebene setzt auf dampfdiffusionsbremsende Folien oder Pasten, die verhindern, dass feuchtwarme Raumluft in die Konstruktion eindringt.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Planungsfehler und wie sie entstehen</a:t>
            </a:r>
          </a:p>
        </p:txBody>
      </p:sp>
      <p:sp>
        <p:nvSpPr>
          <p:cNvPr id="3" name="Content Placeholder 2"/>
          <p:cNvSpPr>
            <a:spLocks noGrp="1"/>
          </p:cNvSpPr>
          <p:nvPr>
            <p:ph idx="1"/>
          </p:nvPr>
        </p:nvSpPr>
        <p:spPr/>
        <p:txBody>
          <a:bodyPr/>
          <a:lstStyle/>
          <a:p>
            <a:pPr>
              <a:defRPr sz="1800"/>
            </a:pPr>
            <a:r>
              <a:t>Viele Anschlussprobleme entstehen nicht auf der Baustelle, sondern bereits in der Entwurfsphase. Ein häufiger Fehler ist die fehlende Abstimmung zwischen Fugenbreite und Dämmstärke: Wird die Fuge zu schmal geplant, passt die erforderliche Dämmung nicht hinein, ohne Nutzfläche zu verlieren. Ein weiterer kritischer Punkt ist die unzureichende Berücksichtigung der Setzungsbewegung des neuen Holzbaus. Während das Bestandsgebäude bereits seit Jahrzehnten steht und keine nennenswerte Bewegung mehr zeigt, kann der neue Anbau in den ersten zwei bis drei Jahren noch erheblich schwinden und sich setzen. Wenn die Fuge diese Bewegung nicht aufnehmen kann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Planungsfehler und wie sie entstehen</a:t>
            </a:r>
          </a:p>
        </p:txBody>
      </p:sp>
      <p:sp>
        <p:nvSpPr>
          <p:cNvPr id="3" name="Content Placeholder 2"/>
          <p:cNvSpPr>
            <a:spLocks noGrp="1"/>
          </p:cNvSpPr>
          <p:nvPr>
            <p:ph idx="1"/>
          </p:nvPr>
        </p:nvSpPr>
        <p:spPr/>
        <p:txBody>
          <a:bodyPr/>
          <a:lstStyle/>
          <a:p>
            <a:pPr>
              <a:defRPr sz="1800"/>
            </a:pPr>
            <a:r>
              <a:t>, entstehen Risse in der Dichtebene oder Schiefstellungen im Anschlussbereich. Auch die Vernachlässigung des Höhenunterschieds zwischen Bestandsboden und Anbauboden führt regelmäßig zu Feuchtepblemen am Sockel.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Koordination mit anderen Gewerken</a:t>
            </a:r>
          </a:p>
        </p:txBody>
      </p:sp>
      <p:sp>
        <p:nvSpPr>
          <p:cNvPr id="3" name="Content Placeholder 2"/>
          <p:cNvSpPr>
            <a:spLocks noGrp="1"/>
          </p:cNvSpPr>
          <p:nvPr>
            <p:ph idx="1"/>
          </p:nvPr>
        </p:nvSpPr>
        <p:spPr/>
        <p:txBody>
          <a:bodyPr/>
          <a:lstStyle/>
          <a:p>
            <a:pPr>
              <a:defRPr sz="1800"/>
            </a:pPr>
            <a:r>
              <a:t>Die Anschlussfuge berührt zwangsläufig mehrere Gewerke, deren Arbeit sorgfältig aufeinander abgestimmt werden muss. Der Fensterbauer benötigt exakte Anschlusshöhen und -breiten für seine Rahmenprofile. Der Dachdecker braucht klare Vorgaben für die Blechanschlüsse an Traufe und Wand. Der Installateur muss wissen, wo Leitungen durch die Fuge geführt werden und wie diese Durchdringungen abgedichtet werden. Diese Koordination sollte nicht dem Zufall überlassen bleiben. Eine strukturierte Detailzeichnung, die alle beteiligten Positionen zeigt, schafft Verbindlichkeit und vermeidet Missverständnisse. Am besten geschieht diese Abstimmung bereits in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Koordination mit anderen Gewerken</a:t>
            </a:r>
          </a:p>
        </p:txBody>
      </p:sp>
      <p:sp>
        <p:nvSpPr>
          <p:cNvPr id="3" name="Content Placeholder 2"/>
          <p:cNvSpPr>
            <a:spLocks noGrp="1"/>
          </p:cNvSpPr>
          <p:nvPr>
            <p:ph idx="1"/>
          </p:nvPr>
        </p:nvSpPr>
        <p:spPr/>
        <p:txBody>
          <a:bodyPr/>
          <a:lstStyle/>
          <a:p>
            <a:pPr>
              <a:defRPr sz="1800"/>
            </a:pPr>
            <a:r>
              <a:t>der Entwurfsphase, sodass die Anschlusslösung nicht nachträglich angepasst werden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Langfristige Überprüfbarkeit einplanen</a:t>
            </a:r>
          </a:p>
        </p:txBody>
      </p:sp>
      <p:sp>
        <p:nvSpPr>
          <p:cNvPr id="3" name="Content Placeholder 2"/>
          <p:cNvSpPr>
            <a:spLocks noGrp="1"/>
          </p:cNvSpPr>
          <p:nvPr>
            <p:ph idx="1"/>
          </p:nvPr>
        </p:nvSpPr>
        <p:spPr/>
        <p:txBody>
          <a:bodyPr/>
          <a:lstStyle/>
          <a:p>
            <a:pPr>
              <a:defRPr sz="1800"/>
            </a:pPr>
            <a:r>
              <a:t>Eine gut geplante Anschlussfuge ist nicht nur zum Zeitpunkt der Fertigstellung funktionstüchtig, sondern bleibt es über die gesamte Nutzungsdauer. Dies setzt voraus, dass kritische Stellen zugänglich bleiben und nicht durch dauerhafte Verkleidungen unsichtbar gemacht werden. Wartungsöffnungen im Innenbereich ermöglichen die regelmäßige Kontrolle der Dichtebenen. Im Außenbereich sollte die Hinterlüftung der Anschlussbereiche durch entsprechende Abstandshalter gewährleistet sein, damit Feuchtigkeit nicht eingeschlossen wird. Die Wahl langlebiger Materialien mit nachgewiesener Alterungsbeständigkeit reduziert den Wartungsaufwand zusätzlich.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Genehmigungsrelevante Aspekte beachten</a:t>
            </a:r>
          </a:p>
        </p:txBody>
      </p:sp>
      <p:sp>
        <p:nvSpPr>
          <p:cNvPr id="3" name="Content Placeholder 2"/>
          <p:cNvSpPr>
            <a:spLocks noGrp="1"/>
          </p:cNvSpPr>
          <p:nvPr>
            <p:ph idx="1"/>
          </p:nvPr>
        </p:nvSpPr>
        <p:spPr/>
        <p:txBody>
          <a:bodyPr/>
          <a:lstStyle/>
          <a:p>
            <a:pPr>
              <a:defRPr sz="1800"/>
            </a:pPr>
            <a:r>
              <a:t>Je nach Bundesland und Gemeinde können an die Anschlussfuge auch genehmigungsrelevante Anforderungen gestellt werden. Die Landesbauordnung Nordrhein-Westfalen und die jeweilige Bebauungsplanung setzen Grenzen für die Abstandsflächen zum Nachbargrundstück, die direkten Einfluss auf die Positionierung des Anbaus und damit auf die Fugenführung haben. Auch der Brandschutz kann Anforderungen an die Ausbildung der Anschlussstelle stellen, insbesondere wenn der Holzanbau in der Gebäudeklasse 3 oder höher liegt. Eine frühzeitige Klärung mit der zuständigen Baubehörde vermeidet Überraschungen im Genehmigungsverfahren und gibt der Planung die notwendig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Genehmigungsrelevante Aspekte beachten</a:t>
            </a:r>
          </a:p>
        </p:txBody>
      </p:sp>
      <p:sp>
        <p:nvSpPr>
          <p:cNvPr id="3" name="Content Placeholder 2"/>
          <p:cNvSpPr>
            <a:spLocks noGrp="1"/>
          </p:cNvSpPr>
          <p:nvPr>
            <p:ph idx="1"/>
          </p:nvPr>
        </p:nvSpPr>
        <p:spPr/>
        <p:txBody>
          <a:bodyPr/>
          <a:lstStyle/>
          <a:p>
            <a:pPr>
              <a:defRPr sz="1800"/>
            </a:pPr>
            <a:r>
              <a:t>e Sicherheit.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Anschlussfuge beim Holzanbau: Feuchtigkeit, Wärmebrücke und Lastübergang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