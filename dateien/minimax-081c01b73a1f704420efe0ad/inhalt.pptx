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nrw.wordpress.com/2026/10/16/eigenleistung-holzbau-bauherren-fachbetrieb/" TargetMode="External"/><Relationship Id="rId3" Type="http://schemas.openxmlformats.org/officeDocument/2006/relationships/hyperlink" Target="https://holzundhaus.github.io/1aholzbaunrw/dateien/minimax-081c01b73a1f704420efe0a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Eigenleistung im Holzbau: Was Bauherren selbst machen dürfen – und was zwingend in den Fachbetrieb gehört · Erklärende Präsentation</a:t>
            </a:r>
          </a:p>
        </p:txBody>
      </p:sp>
      <p:sp>
        <p:nvSpPr>
          <p:cNvPr id="3" name="Content Placeholder 2"/>
          <p:cNvSpPr>
            <a:spLocks noGrp="1"/>
          </p:cNvSpPr>
          <p:nvPr>
            <p:ph idx="1"/>
          </p:nvPr>
        </p:nvSpPr>
        <p:spPr/>
        <p:txBody>
          <a:bodyPr/>
          <a:lstStyle/>
          <a:p>
            <a:r>
              <a:t>Überblick: Eigenleistung im Holzbau kann Kosten sparen, birgt aber auch Risiken, wenn die Grenze zwischen machbarer Eigenarbeit und fachlicher Notwendigkeit nicht klar ist. Wer als Bauherr weiß, welche Aufgaben er realistisch selbst übernehmen kann und welche zwingend in Fachbetriebshände gehören, vermeidet kostspielige Fehler und sorgt für ein sicheres Ergebnis. Die Abgrenzung folgt dabei nicht dem subjektiven Empfinden, sondern konkreten bautechnischen und rechtlichen Anforderungen.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geübte Bauherren realistisch selbst übernehmen können</a:t>
            </a:r>
          </a:p>
        </p:txBody>
      </p:sp>
      <p:sp>
        <p:nvSpPr>
          <p:cNvPr id="3" name="Content Placeholder 2"/>
          <p:cNvSpPr>
            <a:spLocks noGrp="1"/>
          </p:cNvSpPr>
          <p:nvPr>
            <p:ph idx="1"/>
          </p:nvPr>
        </p:nvSpPr>
        <p:spPr/>
        <p:txBody>
          <a:bodyPr/>
          <a:lstStyle/>
          <a:p>
            <a:pPr>
              <a:defRPr sz="1800"/>
            </a:pPr>
            <a:r>
              <a:t>Bestimmte Vorarbeiten und ergänzende Tätigkeiten lassen sich auch ohne spezielle Fachqualifikation umsetzen, solange sie weder die Statik noch die Schutzwirkung der Konstruktion verändern. Dazu gehören das Freiräumen der Baustelle, Maßaufnahmen und einfache Skizzen für eine Anfrage, die Demontage alter Beläge sowie Schleif-, Öl- und Pflegearbeiten an bereits montierten Holzoberflächen. Auch nichttragende Innenbekleidungen, Leisten, Sichtschutz oder kleinere Garten-Holzbauteile wie Zäune und Pflanzkästen zählen zu den machbaren Eigenleistungen. Diese Arbeiten verändern keine tragenden Elemente, und eventuelle Fehler lassen sich meist ohne aufw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geübte Bauherren realistisch selbst übernehmen können</a:t>
            </a:r>
          </a:p>
        </p:txBody>
      </p:sp>
      <p:sp>
        <p:nvSpPr>
          <p:cNvPr id="3" name="Content Placeholder 2"/>
          <p:cNvSpPr>
            <a:spLocks noGrp="1"/>
          </p:cNvSpPr>
          <p:nvPr>
            <p:ph idx="1"/>
          </p:nvPr>
        </p:nvSpPr>
        <p:spPr/>
        <p:txBody>
          <a:bodyPr/>
          <a:lstStyle/>
          <a:p>
            <a:pPr>
              <a:defRPr sz="1800"/>
            </a:pPr>
            <a:r>
              <a:t>endigen Rückbau korrigieren. Eine kurze Abstimmung mit dem Fachbetrieb genügt oft, um eigene Beiträge sinnvoll einzuordnen und mögliche Schnittstellenprobleme zu klären.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Tragende Teile und sicherheitsrelevante Konstruktionen gehören in den Fachbetrieb</a:t>
            </a:r>
          </a:p>
        </p:txBody>
      </p:sp>
      <p:sp>
        <p:nvSpPr>
          <p:cNvPr id="3" name="Content Placeholder 2"/>
          <p:cNvSpPr>
            <a:spLocks noGrp="1"/>
          </p:cNvSpPr>
          <p:nvPr>
            <p:ph idx="1"/>
          </p:nvPr>
        </p:nvSpPr>
        <p:spPr/>
        <p:txBody>
          <a:bodyPr/>
          <a:lstStyle/>
          <a:p>
            <a:pPr>
              <a:defRPr sz="1800"/>
            </a:pPr>
            <a:r>
              <a:t>Balken, Stützen, Sparren, Pfetten und sämtliche tragenden Verbindungen mit rechnerischem Nachweis müssen zwingend vom Fachbetrieb geplant und ausgeführt werden. Gleiches gilt für Anschlüsse an bestehende Bauteile, Auflager und Maßnahmen des baulichen Holzschutzes wie Hinterlüftung und Anschlussfugen. Der Dachstuhl, die Dachgaube und das Tragwerk eines Holzbalkons sind ebenso wenig für Eigenleistungen geeignet wie Geländer und Absturzsicherungen. Auch brandschutz- und schallschutzrelevante Aufbauten erfordern fachliche Kompetenz, da hier konkrete Nachweispflichten bestehen. Diese Bauteile tragen Lasten oder schützen Personen – eine fehlerhafte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Tragende Teile und sicherheitsrelevante Konstruktionen gehören in den Fachbetrieb</a:t>
            </a:r>
          </a:p>
        </p:txBody>
      </p:sp>
      <p:sp>
        <p:nvSpPr>
          <p:cNvPr id="3" name="Content Placeholder 2"/>
          <p:cNvSpPr>
            <a:spLocks noGrp="1"/>
          </p:cNvSpPr>
          <p:nvPr>
            <p:ph idx="1"/>
          </p:nvPr>
        </p:nvSpPr>
        <p:spPr/>
        <p:txBody>
          <a:bodyPr/>
          <a:lstStyle/>
          <a:p>
            <a:pPr>
              <a:defRPr sz="1800"/>
            </a:pPr>
            <a:r>
              <a:t> Ausführung kann erhebliche Sicherheitsrisiken bergen.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Dielen und Beläge: Wo die Arbeit aufhört</a:t>
            </a:r>
          </a:p>
        </p:txBody>
      </p:sp>
      <p:sp>
        <p:nvSpPr>
          <p:cNvPr id="3" name="Content Placeholder 2"/>
          <p:cNvSpPr>
            <a:spLocks noGrp="1"/>
          </p:cNvSpPr>
          <p:nvPr>
            <p:ph idx="1"/>
          </p:nvPr>
        </p:nvSpPr>
        <p:spPr/>
        <p:txBody>
          <a:bodyPr/>
          <a:lstStyle/>
          <a:p>
            <a:pPr>
              <a:defRPr sz="1800"/>
            </a:pPr>
            <a:r>
              <a:t>Beläge werden häufig als klassische Eigenleistung dargestellt, doch die Aufgaben trennen sich auch hier klar. Die Dielenmontage auf einer vorhandenen, tragfähigen Unterkonstruktion lässt sich mit passendem Werkzeug und guter Anleitung umsetzen – vorausgesetzt, die Unterkonstruktion selbst ist fachgerecht hergestellt. Unterkonstruktion, Auflager, Gefälle und Befestigung entscheiden über die Dauerhaftigkeit und gehören in Fachbetriebshände. Auch der Anschluss an Hauswand, Tür oder Geländerpfosten wird durch andere Bauteile beeinflusst und ist nicht allein Sache der Diele. Gerade beim Holzbalkon zeigt sich, dass Tragwerk, Belag und Geländer unte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Dielen und Beläge: Wo die Arbeit aufhört</a:t>
            </a:r>
          </a:p>
        </p:txBody>
      </p:sp>
      <p:sp>
        <p:nvSpPr>
          <p:cNvPr id="3" name="Content Placeholder 2"/>
          <p:cNvSpPr>
            <a:spLocks noGrp="1"/>
          </p:cNvSpPr>
          <p:nvPr>
            <p:ph idx="1"/>
          </p:nvPr>
        </p:nvSpPr>
        <p:spPr/>
        <p:txBody>
          <a:bodyPr/>
          <a:lstStyle/>
          <a:p>
            <a:pPr>
              <a:defRPr sz="1800"/>
            </a:pPr>
            <a:r>
              <a:t>rschiedliche Aufgaben haben und der Zustand der darunterliegenden Träger darüber entscheidet, ob ein Dielenaustausch überhaupt ausreicht.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Geländer: Sicherheitsrelevante Bauteile mit klaren Anforderungen</a:t>
            </a:r>
          </a:p>
        </p:txBody>
      </p:sp>
      <p:sp>
        <p:nvSpPr>
          <p:cNvPr id="3" name="Content Placeholder 2"/>
          <p:cNvSpPr>
            <a:spLocks noGrp="1"/>
          </p:cNvSpPr>
          <p:nvPr>
            <p:ph idx="1"/>
          </p:nvPr>
        </p:nvSpPr>
        <p:spPr/>
        <p:txBody>
          <a:bodyPr/>
          <a:lstStyle/>
          <a:p>
            <a:pPr>
              <a:defRPr sz="1800"/>
            </a:pPr>
            <a:r>
              <a:t>Geländer sind keine Dekorationselemente, sondern sicherheitsrelevante Bauteile mit eigenen konstruktiven und rechtlichen Anforderungen. Höhe, Nutzung und Gebäudeart müssen berücksichtigt werden, und ein Geländer nach Augenmaß zu montieren ist keine Eigenleistung im eigentlichen Sinn. In NRW ist der Verfahrensweg projektbezogen zu klären, da aus dem Werkstoff Holz allein weder eine pauschale Verfahrensfreiheit noch eine feste Standardkonstruktion abgeleitet werden kann. Die Anforderungen an Absturzsicherungen lassen keinen Raum für Approximation – hier führt der Weg zwangsläufig über den Fachbetrieb.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Eigenleistung sinnvoll planen und abstimmen</a:t>
            </a:r>
          </a:p>
        </p:txBody>
      </p:sp>
      <p:sp>
        <p:nvSpPr>
          <p:cNvPr id="3" name="Content Placeholder 2"/>
          <p:cNvSpPr>
            <a:spLocks noGrp="1"/>
          </p:cNvSpPr>
          <p:nvPr>
            <p:ph idx="1"/>
          </p:nvPr>
        </p:nvSpPr>
        <p:spPr/>
        <p:txBody>
          <a:bodyPr/>
          <a:lstStyle/>
          <a:p>
            <a:pPr>
              <a:defRPr sz="1800"/>
            </a:pPr>
            <a:r>
              <a:t>Wer Eigenleistung einbringen möchte, sollte vor Baubeginn mit dem Fachbetrieb klären, welche Vorarbeiten übernommen werden können und welche Schnittstellen sauber definiert werden müssen. Eigene Arbeitskraft realistisch kalkulieren, Witterung und Trocknungszeiten einplanen und vertraglich festhalten, welche Leistungen bauseits erbracht werden. Foto- und Maßdokumentation für den Betrieb bereithalten erleichtert die Abstimmung erheblich. Bei Unsicherheit empfiehlt es sich, lieber eine Position mehr dem Fachbetrieb zu überlassen. Wann die Fachplanung ohnehin zwingend ist, lässt sich zusammenfassen: bei Eingriffen in tragende Bauteile, bei neuen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Eigenleistung sinnvoll planen und abstimmen</a:t>
            </a:r>
          </a:p>
        </p:txBody>
      </p:sp>
      <p:sp>
        <p:nvSpPr>
          <p:cNvPr id="3" name="Content Placeholder 2"/>
          <p:cNvSpPr>
            <a:spLocks noGrp="1"/>
          </p:cNvSpPr>
          <p:nvPr>
            <p:ph idx="1"/>
          </p:nvPr>
        </p:nvSpPr>
        <p:spPr/>
        <p:txBody>
          <a:bodyPr/>
          <a:lstStyle/>
          <a:p>
            <a:pPr>
              <a:defRPr sz="1800"/>
            </a:pPr>
            <a:r>
              <a:t>Räumen, Aufstockungen oder größeren Öffnungen, bei sichtbaren Schäden an bestehenden Hölzern, wenn Baurecht oder Verfahrensweg unklar sind und wenn Bauteile dauerhaft Wasser oder Witterung ausgesetzt sind. Eigenleistung endet dort, wo Nachweis und Sicherheit beginnen.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Eigenleistung im Holzbau: Was Bauherren selbst machen dürfen – und was zwingend in den Fachbetrieb gehört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