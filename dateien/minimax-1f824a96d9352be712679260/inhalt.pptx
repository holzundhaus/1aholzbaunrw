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nrw/-/blob/557eebc0c6272cf49066f3516645047776441362/_posts/2026-10-23-dachstuhl-abbund-aufrichten-baustellenlogistik.md" TargetMode="External"/><Relationship Id="rId3" Type="http://schemas.openxmlformats.org/officeDocument/2006/relationships/hyperlink" Target="https://holzundhaus.github.io/1aholzbaunrw/dateien/minimax-1f824a96d9352be71267926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Zuschnitt bis zur geschlossenen Dachhaut: So läuft ein Dachstuhl auf der Baustelle ab · Erklärende Präsentation</a:t>
            </a:r>
          </a:p>
        </p:txBody>
      </p:sp>
      <p:sp>
        <p:nvSpPr>
          <p:cNvPr id="3" name="Content Placeholder 2"/>
          <p:cNvSpPr>
            <a:spLocks noGrp="1"/>
          </p:cNvSpPr>
          <p:nvPr>
            <p:ph idx="1"/>
          </p:nvPr>
        </p:nvSpPr>
        <p:spPr/>
        <p:txBody>
          <a:bodyPr/>
          <a:lstStyle/>
          <a:p>
            <a:r>
              <a:t>Überblick: Beim Aufrichten eines Dachstuhls entscheidet nicht nur die handwerkliche Ausführung über einen reibungslosen Ablauf. Auch Zuschnitt, Anlieferung, Lagerung, Kranstellfläche und Witterungsschutz müssen aufeinander abgestimmt sein. Dieser Leitfaden zeigt, worauf vor der Montage zu achten ist, damit die Holzbauteile ohne improvisierte Lösungen verbaut werden können und der Weg von der Vorbereitung bis zur geschlossenen Dachhaut nachvollziehbar bleibt.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Abbund schafft die Grundlage für den Aufbau</a:t>
            </a:r>
          </a:p>
        </p:txBody>
      </p:sp>
      <p:sp>
        <p:nvSpPr>
          <p:cNvPr id="3" name="Content Placeholder 2"/>
          <p:cNvSpPr>
            <a:spLocks noGrp="1"/>
          </p:cNvSpPr>
          <p:nvPr>
            <p:ph idx="1"/>
          </p:nvPr>
        </p:nvSpPr>
        <p:spPr/>
        <p:txBody>
          <a:bodyPr/>
          <a:lstStyle/>
          <a:p>
            <a:pPr>
              <a:defRPr sz="1800"/>
            </a:pPr>
            <a:r>
              <a:t>Als Abbund wird das Zuschnitten und Vorbereiten der Holzbauteile nach einem verbindlichen Plan bezeichnet. Dazu gehören Sparren, Pfetten, Streben, Schwellen sowie Versätze, Zapfen und metallische Verbinder. Hölzer werden nach Maß zugeschnitten, Aussparungen markiert und die Bauteile nummeriert, damit sie auf der Baustelle in der passenden Reihenfolge verfügbar sind. Ein sorgfältiger Abbund ist erkennbar an eindeutigen Positionsmarken, vorbereiteten oder klar gekennzeichneten Verbindungspunkten und rechtzeitig eingeleiteten Holzschutzmaßnahmen, etwa an Hirnholzenden. Fehlt eine dieser Vorbereitungen, muss auf der Baustelle improvisiert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Abbund schafft die Grundlage für den Aufbau</a:t>
            </a:r>
          </a:p>
        </p:txBody>
      </p:sp>
      <p:sp>
        <p:nvSpPr>
          <p:cNvPr id="3" name="Content Placeholder 2"/>
          <p:cNvSpPr>
            <a:spLocks noGrp="1"/>
          </p:cNvSpPr>
          <p:nvPr>
            <p:ph idx="1"/>
          </p:nvPr>
        </p:nvSpPr>
        <p:spPr/>
        <p:txBody>
          <a:bodyPr/>
          <a:lstStyle/>
          <a:p>
            <a:pPr>
              <a:defRPr sz="1800"/>
            </a:pPr>
            <a:r>
              <a:t> was sich nachteilig auf die Qualität der Verbindungen auswirken kann.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Auflager prüfen und Tragwerk in der richtigen Reihenfolge montieren</a:t>
            </a:r>
          </a:p>
        </p:txBody>
      </p:sp>
      <p:sp>
        <p:nvSpPr>
          <p:cNvPr id="3" name="Content Placeholder 2"/>
          <p:cNvSpPr>
            <a:spLocks noGrp="1"/>
          </p:cNvSpPr>
          <p:nvPr>
            <p:ph idx="1"/>
          </p:nvPr>
        </p:nvSpPr>
        <p:spPr/>
        <p:txBody>
          <a:bodyPr/>
          <a:lstStyle/>
          <a:p>
            <a:pPr>
              <a:defRPr sz="1800"/>
            </a:pPr>
            <a:r>
              <a:t>Vor dem Aufrichten müssen die Auflager stimmen. Je nach Dachform gehören dazu Mauerkronen, Ringanker und bei Pfettendächern die Stützen, auf denen die Pfetten aufliegen. Maßabweichungen wirken sich auf das gesamte Tragwerk aus und erschweren später den Anschluss an die Dachfläche. Anschließend werden die tragenden Pfetten und Stützen gesetzt, danach folgen Sparren, Kehlbalken oder Zangen. Zum Schluss wird das Tragwerk ausgesteift. Jedes Bauteil wird unmittelbar mit den vorgesehenen Verbindungsmitteln fixiert. Dazu zählen Versätze, Schraubverbinder und Metallverbinder sowie Windrispen und Kopfbänder zur Stabilisierung in Längs- und Querrichtun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Auflager prüfen und Tragwerk in der richtigen Reihenfolge montieren</a:t>
            </a:r>
          </a:p>
        </p:txBody>
      </p:sp>
      <p:sp>
        <p:nvSpPr>
          <p:cNvPr id="3" name="Content Placeholder 2"/>
          <p:cNvSpPr>
            <a:spLocks noGrp="1"/>
          </p:cNvSpPr>
          <p:nvPr>
            <p:ph idx="1"/>
          </p:nvPr>
        </p:nvSpPr>
        <p:spPr/>
        <p:txBody>
          <a:bodyPr/>
          <a:lstStyle/>
          <a:p>
            <a:pPr>
              <a:defRPr sz="1800"/>
            </a:pPr>
            <a:r>
              <a:t>g. Die Reihenfolge folgt dem statischen Konzept und schafft die Voraussetzung für die nächsten Montageschritte.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Anlieferung, Lagerung und Kranstellfläche organisieren</a:t>
            </a:r>
          </a:p>
        </p:txBody>
      </p:sp>
      <p:sp>
        <p:nvSpPr>
          <p:cNvPr id="3" name="Content Placeholder 2"/>
          <p:cNvSpPr>
            <a:spLocks noGrp="1"/>
          </p:cNvSpPr>
          <p:nvPr>
            <p:ph idx="1"/>
          </p:nvPr>
        </p:nvSpPr>
        <p:spPr/>
        <p:txBody>
          <a:bodyPr/>
          <a:lstStyle/>
          <a:p>
            <a:pPr>
              <a:defRPr sz="1800"/>
            </a:pPr>
            <a:r>
              <a:t>Der Abbund wird in der Regel auf einem Tieflader oder Lastkraftwagen mit Ladekran zur Baustelle transportiert. Vorher sollten Zufahrt, Abladefläche und Lagerplatz geklärt sein. Die Befahrbarkeit muss zu den genutzten Fahrzeugen passieren, und es muss genügend Raum zum Abladen vorhanden sein. Hölzer, die nicht unmittelbar verbaut werden, benötigen einen trockenen Lagerplatz, damit sie keine Feuchtigkeit aufnehmen. Für Kran oder Autokran sind außerdem eine tragfähige, ebene Stellfläche und ausreichender Schwenkbereich über die Gebäudekante wichtig. Bei enger Nachbarbebauung ist eine Abstimmung mit den Angrenzern sinnvoll. Während der Hebearbeit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Anlieferung, Lagerung und Kranstellfläche organisieren</a:t>
            </a:r>
          </a:p>
        </p:txBody>
      </p:sp>
      <p:sp>
        <p:nvSpPr>
          <p:cNvPr id="3" name="Content Placeholder 2"/>
          <p:cNvSpPr>
            <a:spLocks noGrp="1"/>
          </p:cNvSpPr>
          <p:nvPr>
            <p:ph idx="1"/>
          </p:nvPr>
        </p:nvSpPr>
        <p:spPr/>
        <p:txBody>
          <a:bodyPr/>
          <a:lstStyle/>
          <a:p>
            <a:pPr>
              <a:defRPr sz="1800"/>
            </a:pPr>
            <a:r>
              <a:t>en gehört der Gefahrenbereich abgesperrt, damit sich keine unbeteiligten Personen unter schwebenden Lasten aufhalten.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Witterungsschutz in die Montagesequenz einplanen</a:t>
            </a:r>
          </a:p>
        </p:txBody>
      </p:sp>
      <p:sp>
        <p:nvSpPr>
          <p:cNvPr id="3" name="Content Placeholder 2"/>
          <p:cNvSpPr>
            <a:spLocks noGrp="1"/>
          </p:cNvSpPr>
          <p:nvPr>
            <p:ph idx="1"/>
          </p:nvPr>
        </p:nvSpPr>
        <p:spPr/>
        <p:txBody>
          <a:bodyPr/>
          <a:lstStyle/>
          <a:p>
            <a:pPr>
              <a:defRPr sz="1800"/>
            </a:pPr>
            <a:r>
              <a:t>Holz sollte weder beim Transport noch bei Lagerung und Montage dauerhaft durchfeuchtet werden. Eine spätere geschlossene Dachhaut ersetzt keinen Schutz vor Feuchtigkeit, die zuvor eingetragen wurde. Bei plötzlichem Regen können Abdeckplatten vorbereitet und die Montagereihenfolge so gewählt werden, dass offene Dachflächen möglichst kurz bleiben. Sinnvoll ist außerdem eine frühe Abstimmung mit Dachdecker oder Spengler, damit der Witterungsschutz unmittelbar nach dem Aufrichten beginnen kann. Winterliche Bedingungen verändern den Ablauf zusätzlich, weil niedrige Temperaturen, Schnee und kürzere trockene Zeitfenster die Arbeit beeinflussen. Die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Witterungsschutz in die Montagesequenz einplanen</a:t>
            </a:r>
          </a:p>
        </p:txBody>
      </p:sp>
      <p:sp>
        <p:nvSpPr>
          <p:cNvPr id="3" name="Content Placeholder 2"/>
          <p:cNvSpPr>
            <a:spLocks noGrp="1"/>
          </p:cNvSpPr>
          <p:nvPr>
            <p:ph idx="1"/>
          </p:nvPr>
        </p:nvSpPr>
        <p:spPr/>
        <p:txBody>
          <a:bodyPr/>
          <a:lstStyle/>
          <a:p>
            <a:pPr>
              <a:defRPr sz="1800"/>
            </a:pPr>
            <a:r>
              <a:t>dafür relevanten Risikofaktoren im Winter sollten deshalb vorab berücksichtigt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Zimmererarbeit bis zur geschlossenen Dachhaut</a:t>
            </a:r>
          </a:p>
        </p:txBody>
      </p:sp>
      <p:sp>
        <p:nvSpPr>
          <p:cNvPr id="3" name="Content Placeholder 2"/>
          <p:cNvSpPr>
            <a:spLocks noGrp="1"/>
          </p:cNvSpPr>
          <p:nvPr>
            <p:ph idx="1"/>
          </p:nvPr>
        </p:nvSpPr>
        <p:spPr/>
        <p:txBody>
          <a:bodyPr/>
          <a:lstStyle/>
          <a:p>
            <a:pPr>
              <a:defRPr sz="1800"/>
            </a:pPr>
            <a:r>
              <a:t>Nach dem Aufrichten ist die Zimmererarbeit noch nicht abgeschlossen. Bis zur geschlossenen Dachhaut folgen je nach Dachaufbau eine Unterspannbahn oder diffusionsoffene Folie, Konterlattung und Traglattung sowie die Eindeckung mit Dachziegeln, Betondachsteinen oder Blech. Anschlüsse an Ortgang, Traufe und vorhandene Dachgauben müssen berücksichtigt werden. Bauherren sollten daher bereits in der Anfrage klären, ob die Leistung auch die Schnittstellen zu Dachdecker und Spengler umfasst. Hilfreich sind außerdem Grundriss, Dachform, ungefähre Maße, vorhandene Statik oder Bestandsunterlagen sowie Informationen zu geplantem Ersatz, Ergänzung oder Au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Zimmererarbeit bis zur geschlossenen Dachhaut</a:t>
            </a:r>
          </a:p>
        </p:txBody>
      </p:sp>
      <p:sp>
        <p:nvSpPr>
          <p:cNvPr id="3" name="Content Placeholder 2"/>
          <p:cNvSpPr>
            <a:spLocks noGrp="1"/>
          </p:cNvSpPr>
          <p:nvPr>
            <p:ph idx="1"/>
          </p:nvPr>
        </p:nvSpPr>
        <p:spPr/>
        <p:txBody>
          <a:bodyPr/>
          <a:lstStyle/>
          <a:p>
            <a:pPr>
              <a:defRPr sz="1800"/>
            </a:pPr>
            <a:r>
              <a:t>sbau. Die Übersichtsseite zum Dachstuhl ergänzt diese Grundlagen um einen kompakten Einstieg in Dachform, Tragwerk und Anfragefragen.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Vom Zuschnitt bis zur geschlossenen Dachhaut: So läuft ein Dachstuhl auf der Baustelle ab</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