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nrw/holzbau-am-denkmalgeschuetzten-haus/" TargetMode="External"/><Relationship Id="rId3" Type="http://schemas.openxmlformats.org/officeDocument/2006/relationships/hyperlink" Target="https://holzundhaus.github.io/1aholzbaunrw/dateien/minimax-dd398b567b246d269352852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 am denkmalgeschützten Haus: welche Eingriffe möglich sind · Erklärende Präsentation</a:t>
            </a:r>
          </a:p>
        </p:txBody>
      </p:sp>
      <p:sp>
        <p:nvSpPr>
          <p:cNvPr id="3" name="Content Placeholder 2"/>
          <p:cNvSpPr>
            <a:spLocks noGrp="1"/>
          </p:cNvSpPr>
          <p:nvPr>
            <p:ph idx="1"/>
          </p:nvPr>
        </p:nvSpPr>
        <p:spPr/>
        <p:txBody>
          <a:bodyPr/>
          <a:lstStyle/>
          <a:p>
            <a:r>
              <a:t>Überblick: Holzarbeiten an einem denkmalgeschützten Haus beginnen nicht mit dem ersten Schnitt, sondern mit einer klaren Bestandsaufnahme. Entscheidend ist, ob Schadensbehebung, Reparatur, Umbau oder Erweiterung geplant sind und wie stark die historische Substanz verändert wird. Dieser Leitfaden strukturiert die Vorbereitung: Er zeigt, welche Fragen vor der Planung geklärt, welche Unterlagen gesammelt und welche Eingriffe besonders sorgfältig dokumentiert werden sollten. Auch vorbereitende Arbeiten zur Befundaufnahme gehören in die Abstimmung. Wer den Denkmalstatus und die zuständige Stelle frühzeitig klärt, kann das weitere Vorgehen besser 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Denkmalstatus und Zuständigkeit frühzeitig klären</a:t>
            </a:r>
          </a:p>
        </p:txBody>
      </p:sp>
      <p:sp>
        <p:nvSpPr>
          <p:cNvPr id="3" name="Content Placeholder 2"/>
          <p:cNvSpPr>
            <a:spLocks noGrp="1"/>
          </p:cNvSpPr>
          <p:nvPr>
            <p:ph idx="1"/>
          </p:nvPr>
        </p:nvSpPr>
        <p:spPr/>
        <p:txBody>
          <a:bodyPr/>
          <a:lstStyle/>
          <a:p>
            <a:pPr>
              <a:defRPr sz="1800"/>
            </a:pPr>
            <a:r>
              <a:t>Steht ein Gebäude in der Denkmalliste oder besteht ein entsprechender Verdacht, sollte vor Beginn der Arbeiten geklärt werden, welche Stelle einzubinden ist. Wichtig ist außerdem, bereits das Öffnen von Bauteilen zur Befundaufnahme abzustimmen. Dafür bietet sich der zuständige Denkmalstatus als Einstieg an: Unter Denkmalstatus prüfen erfahren Eigentümerinnen und Eigentümer, welche Hinweise für die weitere Abstimmung relevant sind. Das Alter eines Gebäudes allein beweist weder eine unzureichende Tragfähigkeit noch eine bestimmte Genehmigungslage. Ebenso lässt eine intakte Oberfläche keine sicheren Rückschlüsse auf verdeckte Anschlüsse oder Feu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Denkmalstatus und Zuständigkeit frühzeitig klären</a:t>
            </a:r>
          </a:p>
        </p:txBody>
      </p:sp>
      <p:sp>
        <p:nvSpPr>
          <p:cNvPr id="3" name="Content Placeholder 2"/>
          <p:cNvSpPr>
            <a:spLocks noGrp="1"/>
          </p:cNvSpPr>
          <p:nvPr>
            <p:ph idx="1"/>
          </p:nvPr>
        </p:nvSpPr>
        <p:spPr/>
        <p:txBody>
          <a:bodyPr/>
          <a:lstStyle/>
          <a:p>
            <a:pPr>
              <a:defRPr sz="1800"/>
            </a:pPr>
            <a:r>
              <a:t>chteschäden zu.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und Erhaltung sinnvoll unterscheiden</a:t>
            </a:r>
          </a:p>
        </p:txBody>
      </p:sp>
      <p:sp>
        <p:nvSpPr>
          <p:cNvPr id="3" name="Content Placeholder 2"/>
          <p:cNvSpPr>
            <a:spLocks noGrp="1"/>
          </p:cNvSpPr>
          <p:nvPr>
            <p:ph idx="1"/>
          </p:nvPr>
        </p:nvSpPr>
        <p:spPr/>
        <p:txBody>
          <a:bodyPr/>
          <a:lstStyle/>
          <a:p>
            <a:pPr>
              <a:defRPr sz="1800"/>
            </a:pPr>
            <a:r>
              <a:t>Erhaltungsarbeiten sichern Material und Konstruktion, ohne die historische Substanz grundlegend zu verändern. Typische Aufgaben sind die Dokumentation eines Bauteils, der Austausch geschädigter Holzabschnitte in materialgerechter Form und die Ergänzung oder Sicherung bestehender Holzverbindungen. Auch die Behebung einer Feuchteursache kann dazugehören. Bei jeder Maßnahme müssen die erkennbare Konstruktion erhalten, das Erhaltungsziel berücksichtigt und die Arbeiten nachvollziehbar dokumentiert werden. Verbindungsart, Reihenfolge und erforderliche Sicherungen gehören in die Fachplanung. Allgemeine Unterlagen zum Holzschutz können dabei unterst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und Erhaltung sinnvoll unterscheiden</a:t>
            </a:r>
          </a:p>
        </p:txBody>
      </p:sp>
      <p:sp>
        <p:nvSpPr>
          <p:cNvPr id="3" name="Content Placeholder 2"/>
          <p:cNvSpPr>
            <a:spLocks noGrp="1"/>
          </p:cNvSpPr>
          <p:nvPr>
            <p:ph idx="1"/>
          </p:nvPr>
        </p:nvSpPr>
        <p:spPr/>
        <p:txBody>
          <a:bodyPr/>
          <a:lstStyle/>
          <a:p>
            <a:pPr>
              <a:defRPr sz="1800"/>
            </a:pPr>
            <a:r>
              <a:t>ützen, ersetzen jedoch nicht die examination des konkreten Aufbaus.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Umbau und neue Öffnungen rechtzeitig erkennen</a:t>
            </a:r>
          </a:p>
        </p:txBody>
      </p:sp>
      <p:sp>
        <p:nvSpPr>
          <p:cNvPr id="3" name="Content Placeholder 2"/>
          <p:cNvSpPr>
            <a:spLocks noGrp="1"/>
          </p:cNvSpPr>
          <p:nvPr>
            <p:ph idx="1"/>
          </p:nvPr>
        </p:nvSpPr>
        <p:spPr/>
        <p:txBody>
          <a:bodyPr/>
          <a:lstStyle/>
          <a:p>
            <a:pPr>
              <a:defRPr sz="1800"/>
            </a:pPr>
            <a:r>
              <a:t>Ein größerer Eingriff liegt vor, wenn tragende Hölzer ersetzt oder wesentlich verändert werden, neue Öffnungen in Fachwerkwände kommen, Außenbauteile wie Fenster oder Fassadenbekleidungen in Material und Profil wechseln oder ein Geschoss aufgestockt beziehungsweise ein Holzanbau entsteht. Solche Vorhaben berühren denkmalrelevante Merkmale und sind regelmäßig erlaubnispflichtig. Eine neue Bekleidung ist dabei nicht automatisch die passende Lösung für einen geschädigten Fachwerkbestand: Sie kann die historische Substanz verdecken, ohne die eigentliche Ursache zu beheben. Deshalb sollte das Erhaltungsziel bereits in der ersten Planung beschriebe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Umbau und neue Öffnungen rechtzeitig erkennen</a:t>
            </a:r>
          </a:p>
        </p:txBody>
      </p:sp>
      <p:sp>
        <p:nvSpPr>
          <p:cNvPr id="3" name="Content Placeholder 2"/>
          <p:cNvSpPr>
            <a:spLocks noGrp="1"/>
          </p:cNvSpPr>
          <p:nvPr>
            <p:ph idx="1"/>
          </p:nvPr>
        </p:nvSpPr>
        <p:spPr/>
        <p:txBody>
          <a:bodyPr/>
          <a:lstStyle/>
          <a:p>
            <a:pPr>
              <a:defRPr sz="1800"/>
            </a:pPr>
            <a:r>
              <a:t>n und mit den betroffenen tragenden Bauteilen verknüpft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Planung belastbar dokumentieren</a:t>
            </a:r>
          </a:p>
        </p:txBody>
      </p:sp>
      <p:sp>
        <p:nvSpPr>
          <p:cNvPr id="3" name="Content Placeholder 2"/>
          <p:cNvSpPr>
            <a:spLocks noGrp="1"/>
          </p:cNvSpPr>
          <p:nvPr>
            <p:ph idx="1"/>
          </p:nvPr>
        </p:nvSpPr>
        <p:spPr/>
        <p:txBody>
          <a:bodyPr/>
          <a:lstStyle/>
          <a:p>
            <a:pPr>
              <a:defRPr sz="1800"/>
            </a:pPr>
            <a:r>
              <a:t>Fotos, Aufmaß, vorhandene Bauakten und Angaben zu früheren Reparaturen bilden die Grundlage der weiteren Prüfung. Hinzu kommen Hinweise auf sichtbare Schäden, bekannte Feuchteprobleme oder nachträgliche Veränderungen am Bestand. Wichtig ist, den vorhandenen Planungsstand und den gewünschten Leistungsumfang möglichst konkret darzustellen, statt fehlende Angaben durch Schätzungen zu ersetzen. Für die Abstimmung kann die zuständige Stelle weitere Unterlagen oder ein Aufmaß anfordern. Eine sorgfältige Bestandsaufnahme hilft anschließend zu entscheiden, welche Teile erhalten, repariert oder ersetzt werden können und wo ein Eingriff in die Tragstru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Planung belastbar dokumentieren</a:t>
            </a:r>
          </a:p>
        </p:txBody>
      </p:sp>
      <p:sp>
        <p:nvSpPr>
          <p:cNvPr id="3" name="Content Placeholder 2"/>
          <p:cNvSpPr>
            <a:spLocks noGrp="1"/>
          </p:cNvSpPr>
          <p:nvPr>
            <p:ph idx="1"/>
          </p:nvPr>
        </p:nvSpPr>
        <p:spPr/>
        <p:txBody>
          <a:bodyPr/>
          <a:lstStyle/>
          <a:p>
            <a:pPr>
              <a:defRPr sz="1800"/>
            </a:pPr>
            <a:r>
              <a:t>ktur unvermeidbar erscheint.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und Abstimmung nachvollziehbar vorbereiten</a:t>
            </a:r>
          </a:p>
        </p:txBody>
      </p:sp>
      <p:sp>
        <p:nvSpPr>
          <p:cNvPr id="3" name="Content Placeholder 2"/>
          <p:cNvSpPr>
            <a:spLocks noGrp="1"/>
          </p:cNvSpPr>
          <p:nvPr>
            <p:ph idx="1"/>
          </p:nvPr>
        </p:nvSpPr>
        <p:spPr/>
        <p:txBody>
          <a:bodyPr/>
          <a:lstStyle/>
          <a:p>
            <a:pPr>
              <a:defRPr sz="1800"/>
            </a:pPr>
            <a:r>
              <a:t>In die Anfrage gehören der bekannte Denkmalstatus, die Lage und Art der Schäden, frühere Reparaturen, bekannte Feuchteprobleme, das angestrebte Erhaltungsziel sowie die betroffenen tragenden Bauteile. Ergänzend sollten der aktuelle Planungsstand und die gewünschte Leistungen beschrieben werden. Denkmalrechtliche Abstimmung vorbereiten bedeutet dabei nicht, ohne Prüfung bereits ein fertiges Genehmigungsergebnis zu erwarten, sondern die Entscheidungsgrundlagen bereitzustellen. So lassen sich Umfang, erforderliche Unterlagen und mögliche Auflagen beziehungsweise weitere Prüfschritte mit der zuständigen Stelle klären, bevor umfangreiche Arbeiten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und Abstimmung nachvollziehbar vorbereiten</a:t>
            </a:r>
          </a:p>
        </p:txBody>
      </p:sp>
      <p:sp>
        <p:nvSpPr>
          <p:cNvPr id="3" name="Content Placeholder 2"/>
          <p:cNvSpPr>
            <a:spLocks noGrp="1"/>
          </p:cNvSpPr>
          <p:nvPr>
            <p:ph idx="1"/>
          </p:nvPr>
        </p:nvSpPr>
        <p:spPr/>
        <p:txBody>
          <a:bodyPr/>
          <a:lstStyle/>
          <a:p>
            <a:pPr>
              <a:defRPr sz="1800"/>
            </a:pPr>
            <a:r>
              <a:t>oder vorbereitende Öffnungen beginnen.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 am denkmalgeschützten Haus: welche Eingriffe möglich sind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