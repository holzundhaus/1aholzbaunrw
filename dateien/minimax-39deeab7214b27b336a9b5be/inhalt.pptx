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nrw.tumblr.com/post/830636442662436864/dachgeschossausbau-daemmung-luftdichtheit-schichtenfolge" TargetMode="External"/><Relationship Id="rId3" Type="http://schemas.openxmlformats.org/officeDocument/2006/relationships/hyperlink" Target="https://holzundhaus.github.io/1aholzbaunrw/dateien/minimax-39deeab7214b27b336a9b5b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Schichtenfolge im Dachgeschoss: So greifen Dämmung, Luftdichtheit und Schallschutz ineinander · Erklärende Präsentation</a:t>
            </a:r>
          </a:p>
        </p:txBody>
      </p:sp>
      <p:sp>
        <p:nvSpPr>
          <p:cNvPr id="3" name="Content Placeholder 2"/>
          <p:cNvSpPr>
            <a:spLocks noGrp="1"/>
          </p:cNvSpPr>
          <p:nvPr>
            <p:ph idx="1"/>
          </p:nvPr>
        </p:nvSpPr>
        <p:spPr/>
        <p:txBody>
          <a:bodyPr/>
          <a:lstStyle/>
          <a:p>
            <a:r>
              <a:t>Überblick: Beim Dachgeschossausbau entscheidet nicht ein einzelnes Material über die Qualität des Bauteils, sondern das Zusammenspiel mehrerer Schichten. Wer Dämmung, luftdichte Ebene und Schallschutz getrennt voneinander plant, riskiert Lücken an Übergängen, Durchdringungen und Anschlüssen. Dieser Ratgeber zeigt systematisch, welche Aufgaben jede Schicht übernimmt und worauf bei der Planung besonders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Reihenfolge der Schichten entscheidend ist</a:t>
            </a:r>
          </a:p>
        </p:txBody>
      </p:sp>
      <p:sp>
        <p:nvSpPr>
          <p:cNvPr id="3" name="Content Placeholder 2"/>
          <p:cNvSpPr>
            <a:spLocks noGrp="1"/>
          </p:cNvSpPr>
          <p:nvPr>
            <p:ph idx="1"/>
          </p:nvPr>
        </p:nvSpPr>
        <p:spPr/>
        <p:txBody>
          <a:bodyPr/>
          <a:lstStyle/>
          <a:p>
            <a:pPr>
              <a:defRPr sz="1800"/>
            </a:pPr>
            <a:r>
              <a:t>Eine Dachkonstruktion besteht aus mehreren Lagen mit unterschiedlichen Aufgaben: Tragwerk, Unterdeckung, Dämmung, luftdichte Ebene, Installationsebene und Innenbekleidung. Erst das abgestimmte Zusammenwirken ergibt ein funktionierendes Bauteil. Eine falsche Reihenfolge – etwa eine durchgehende Hartschaumlage über den Sparren ohne ausreichende Belüftung oder eine raumseitig offene Folie – kann Feuchtigkeit einschließen, Wärmebrücken erzeugen oder den Schallschutz verschlechtern. Jede Schicht hat eine eigene Funktion, die durch die Anordnung im Aufbau ihre Wirksamkeit entfaltet.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Drei Ebenen im Zusammenspiel</a:t>
            </a:r>
          </a:p>
        </p:txBody>
      </p:sp>
      <p:sp>
        <p:nvSpPr>
          <p:cNvPr id="3" name="Content Placeholder 2"/>
          <p:cNvSpPr>
            <a:spLocks noGrp="1"/>
          </p:cNvSpPr>
          <p:nvPr>
            <p:ph idx="1"/>
          </p:nvPr>
        </p:nvSpPr>
        <p:spPr/>
        <p:txBody>
          <a:bodyPr/>
          <a:lstStyle/>
          <a:p>
            <a:pPr>
              <a:defRPr sz="1800"/>
            </a:pPr>
            <a:r>
              <a:t>Beim Dachgeschossausbau stehen grundsätzlich drei Dämmebenen zur Verfügung. Die Zwischensparrendämmung nutzt die Höhe der vorhandenen Sparren und wird ergänzt, wenn die Sparrenhöhe nicht ausreicht. Die Untersparrendämmung wird raumseitig angebracht und bildet zusammen mit einer Unterkonstruktion die Installationsebene. Die Aufsparrendämmung liegt oberhalb der Sparren und wird häufig bei Sanierungen gewählt, um die Sparrentiefe vollständig für die Dämmung zu nutzen. Welche Ebene infrage kommt, hängt von der vorhandenen Dachkonstruktion, der gewünschten Raumhöhe und den bauphysikalischen Anforderungen ab. Entscheidend ist nicht allein die Dämms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Drei Ebenen im Zusammenspiel</a:t>
            </a:r>
          </a:p>
        </p:txBody>
      </p:sp>
      <p:sp>
        <p:nvSpPr>
          <p:cNvPr id="3" name="Content Placeholder 2"/>
          <p:cNvSpPr>
            <a:spLocks noGrp="1"/>
          </p:cNvSpPr>
          <p:nvPr>
            <p:ph idx="1"/>
          </p:nvPr>
        </p:nvSpPr>
        <p:spPr/>
        <p:txBody>
          <a:bodyPr/>
          <a:lstStyle/>
          <a:p>
            <a:pPr>
              <a:defRPr sz="1800"/>
            </a:pPr>
            <a:r>
              <a:t>toffdicke, sondern wie die Dämmung an den Bauteilrändern, an Gauben und am Ortgang angeschlossen wird.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Luftdichte Ebene: Durchgängigkeit ist Pflicht</a:t>
            </a:r>
          </a:p>
        </p:txBody>
      </p:sp>
      <p:sp>
        <p:nvSpPr>
          <p:cNvPr id="3" name="Content Placeholder 2"/>
          <p:cNvSpPr>
            <a:spLocks noGrp="1"/>
          </p:cNvSpPr>
          <p:nvPr>
            <p:ph idx="1"/>
          </p:nvPr>
        </p:nvSpPr>
        <p:spPr/>
        <p:txBody>
          <a:bodyPr/>
          <a:lstStyle/>
          <a:p>
            <a:pPr>
              <a:defRPr sz="1800"/>
            </a:pPr>
            <a:r>
              <a:t>Die luftdichte Ebene verhindert, dass warme, feuchte Raumluft in die Konstruktion strömt und dort als Tauwasser ausfällt. Sie muss auf der warmen Seite der Dämmung liegen, über alle Bauteilflächen durchlaufen – auch über Wände, Gaubenwangen und Dachflächenfenster – und an Durchdringungen für Elektro- oder Sanitärleitungen sorgfältig angeschlossen sein. Im Bereich von Stoßstellen ist eine Verklebung oder Einspannung ohne offene Fugen erforderlich. Wird die Dämmung zwischen und unter den Sparren angeordnet, übernimmt häufig eine raumseitige Folie oder Platte die Luftdichtung. Bei der Aufsparrendämmung wird die Luftdichtung in der Regel auf 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Luftdichte Ebene: Durchgängigkeit ist Pflicht</a:t>
            </a:r>
          </a:p>
        </p:txBody>
      </p:sp>
      <p:sp>
        <p:nvSpPr>
          <p:cNvPr id="3" name="Content Placeholder 2"/>
          <p:cNvSpPr>
            <a:spLocks noGrp="1"/>
          </p:cNvSpPr>
          <p:nvPr>
            <p:ph idx="1"/>
          </p:nvPr>
        </p:nvSpPr>
        <p:spPr/>
        <p:txBody>
          <a:bodyPr/>
          <a:lstStyle/>
          <a:p>
            <a:pPr>
              <a:defRPr sz="1800"/>
            </a:pPr>
            <a:r>
              <a:t>Sparren verlegt und in die Anschlüsse an Giebelwand und Kehlbalkenlage weitergeführt.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Mehr als nur Masse</a:t>
            </a:r>
          </a:p>
        </p:txBody>
      </p:sp>
      <p:sp>
        <p:nvSpPr>
          <p:cNvPr id="3" name="Content Placeholder 2"/>
          <p:cNvSpPr>
            <a:spLocks noGrp="1"/>
          </p:cNvSpPr>
          <p:nvPr>
            <p:ph idx="1"/>
          </p:nvPr>
        </p:nvSpPr>
        <p:spPr/>
        <p:txBody>
          <a:bodyPr/>
          <a:lstStyle/>
          <a:p>
            <a:pPr>
              <a:defRPr sz="1800"/>
            </a:pPr>
            <a:r>
              <a:t>Im Dachgeschoss wirken Schallquellen aus zwei Richtungen: Außenlärm über die Dachfläche und Innenlärm zwischen den Räumen. Für den Schallschutz ist die flächenbezogene Masse der Bauteilschichten relevant, ebenso die Trennung der Schalen, denn eine durchgehende Innenbekleidung überträgt Schwingungen. Auch die Anschlüsse an Trennwände und Decken spielen eine Rolle, weil Schallbrücken die Wirkung schwerer Schichten zunichtemachen können. Eine biegeweiche Innenbekleidung auf einer separaten Unterkonstruktion kann die Schallübertragung zwischen Räumen spürbar verringern, auch wenn die flächenbezogene Masse insgesamt begrenzt 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Problemstellen frühzeitig planen</a:t>
            </a:r>
          </a:p>
        </p:txBody>
      </p:sp>
      <p:sp>
        <p:nvSpPr>
          <p:cNvPr id="3" name="Content Placeholder 2"/>
          <p:cNvSpPr>
            <a:spLocks noGrp="1"/>
          </p:cNvSpPr>
          <p:nvPr>
            <p:ph idx="1"/>
          </p:nvPr>
        </p:nvSpPr>
        <p:spPr/>
        <p:txBody>
          <a:bodyPr/>
          <a:lstStyle/>
          <a:p>
            <a:pPr>
              <a:defRPr sz="1800"/>
            </a:pPr>
            <a:r>
              <a:t>Aus der Praxis mehrerer Holzbauberatungen lassen sich typische Schwachstellen benennen. Der Übergang zwischen Giebelwand und Dachschräge ist kritisch, weil hier mehrere Schichten gleichzeitig wechseln und Anschlussdetails selten baugleich ausgeführt werden. Im Bereich der Dachflächenfenster erfordert der Anschluss an die luftdichte Ebene vorgefertigte Manschetten, die zur Fenstergröße passen. Durchdringungen für Elektro, Heizung und Sanitär sind jeder für sich ein potenzieller Luftkanal in die Dämmung. Der Anschluss an den Kniestock ist besonders beim nachträglichen Ausbau bestehender Dächer ein häufiger Bereich für Wärmebrücken. Dämmung und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Problemstellen frühzeitig planen</a:t>
            </a:r>
          </a:p>
        </p:txBody>
      </p:sp>
      <p:sp>
        <p:nvSpPr>
          <p:cNvPr id="3" name="Content Placeholder 2"/>
          <p:cNvSpPr>
            <a:spLocks noGrp="1"/>
          </p:cNvSpPr>
          <p:nvPr>
            <p:ph idx="1"/>
          </p:nvPr>
        </p:nvSpPr>
        <p:spPr/>
        <p:txBody>
          <a:bodyPr/>
          <a:lstStyle/>
          <a:p>
            <a:pPr>
              <a:defRPr sz="1800"/>
            </a:pPr>
            <a:r>
              <a:t>Luftdichtheit lassen sich nicht losgelöst von den anderen Gewerken planen. Wenn die Reihenfolge der Schichten einmal feststeht, bestimmen Installationswege, Steckdosenpositionen und Leitungsschlitze, wie die luftdichte Ebene ausgeführt werden kann. Wer diese Schritte versetzt zueinander plant, muss die Luftdichtung später aufwendig nacharbeiten.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Schichtenfolge im Dachgeschoss: So greifen Dämmung, Luftdichtheit und Schallschutz ineinander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