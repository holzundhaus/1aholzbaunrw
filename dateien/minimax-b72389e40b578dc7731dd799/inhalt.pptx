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nrw/-/blob/d031726750407ce0318a2b2f698d5b30daa59a3a/_posts/2026-10-18-holzbalkon-gelaender-planung-sicherheit-baurecht.md" TargetMode="External"/><Relationship Id="rId3" Type="http://schemas.openxmlformats.org/officeDocument/2006/relationships/hyperlink" Target="https://holzundhaus.github.io/1aholzbaunrw/dateien/minimax-b72389e40b578dc7731dd79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Holzbalkon-Geländer planen: Höhe, Befestigung und baurechtliche Anforderungen · Erklärende Präsentation</a:t>
            </a:r>
          </a:p>
        </p:txBody>
      </p:sp>
      <p:sp>
        <p:nvSpPr>
          <p:cNvPr id="3" name="Content Placeholder 2"/>
          <p:cNvSpPr>
            <a:spLocks noGrp="1"/>
          </p:cNvSpPr>
          <p:nvPr>
            <p:ph idx="1"/>
          </p:nvPr>
        </p:nvSpPr>
        <p:spPr/>
        <p:txBody>
          <a:bodyPr/>
          <a:lstStyle/>
          <a:p>
            <a:r>
              <a:t>Überblick: Einleitung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Geländergestaltung als Teil der Holzbalkon-Planung</a:t>
            </a:r>
          </a:p>
        </p:txBody>
      </p:sp>
      <p:sp>
        <p:nvSpPr>
          <p:cNvPr id="3" name="Content Placeholder 2"/>
          <p:cNvSpPr>
            <a:spLocks noGrp="1"/>
          </p:cNvSpPr>
          <p:nvPr>
            <p:ph idx="1"/>
          </p:nvPr>
        </p:nvSpPr>
        <p:spPr/>
        <p:txBody>
          <a:bodyPr/>
          <a:lstStyle/>
          <a:p>
            <a:pPr>
              <a:defRPr sz="1800"/>
            </a:pPr>
            <a:r>
              <a:t>Das Geländer eines Holzbalkons erfüllt eine doppelte Funktion: Es schützt vor Absturz und prägt gleichzeitig die optische Wirkung des gesamten Balkons. Anders als der Dielenbelag oder die Tragwerkskonstruktion wird das Geländer als separates sicherheitsrelevantes Bauteil behandelt. Das bedeutet, dass seine Planung eigenen Regeln folgt und nicht nachträglich an eine bereits festgelegte Konstruktion angepasst werden sollte. Wer die Geländergestaltung von Anfang an in die Holzbalkon-Planung einbezieht, kann Konstruktion und Optik aufeinander abstimmen und vermeidet Probleme bei der Befestigung.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und ihre Eignung für Geländer</a:t>
            </a:r>
          </a:p>
        </p:txBody>
      </p:sp>
      <p:sp>
        <p:nvSpPr>
          <p:cNvPr id="3" name="Content Placeholder 2"/>
          <p:cNvSpPr>
            <a:spLocks noGrp="1"/>
          </p:cNvSpPr>
          <p:nvPr>
            <p:ph idx="1"/>
          </p:nvPr>
        </p:nvSpPr>
        <p:spPr/>
        <p:txBody>
          <a:bodyPr/>
          <a:lstStyle/>
          <a:p>
            <a:pPr>
              <a:defRPr sz="1800"/>
            </a:pPr>
            <a:r>
              <a:t>Nicht jede Holzart eignet sich gleichermaßen für ein Balkongeländer. Die Wahl richtet sich nach Beanspruchung, Witterungsexposition und gewünschtem Erscheinungsbild. Harthölzer wie Eiche oder Lärche bieten natürliche Widerstandsfähigkeit und entwickeln mit der Zeit eine silbergraue Patina. Weichere Nadelhölzer wie Fichte oder Kiefer erfordern hingegen einen konsequenteren konstruktiven Holzschutz und regelmäßige Pflege. Bei der Auswahl sollte auch die Maserung berücksichtigt werden, da diese die Stabilität beeinflusst und bei manchen Holzarten Rissanfälligkeit mit sich bringt. Eine fachkundige Beratung hilft dabei, die richtige Holzart für 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und ihre Eignung für Geländer</a:t>
            </a:r>
          </a:p>
        </p:txBody>
      </p:sp>
      <p:sp>
        <p:nvSpPr>
          <p:cNvPr id="3" name="Content Placeholder 2"/>
          <p:cNvSpPr>
            <a:spLocks noGrp="1"/>
          </p:cNvSpPr>
          <p:nvPr>
            <p:ph idx="1"/>
          </p:nvPr>
        </p:nvSpPr>
        <p:spPr/>
        <p:txBody>
          <a:bodyPr/>
          <a:lstStyle/>
          <a:p>
            <a:pPr>
              <a:defRPr sz="1800"/>
            </a:pPr>
            <a:r>
              <a:t>e konkrete Situation zu wählen.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Wichtige Anschlusspunkte am Holzbalkon</a:t>
            </a:r>
          </a:p>
        </p:txBody>
      </p:sp>
      <p:sp>
        <p:nvSpPr>
          <p:cNvPr id="3" name="Content Placeholder 2"/>
          <p:cNvSpPr>
            <a:spLocks noGrp="1"/>
          </p:cNvSpPr>
          <p:nvPr>
            <p:ph idx="1"/>
          </p:nvPr>
        </p:nvSpPr>
        <p:spPr/>
        <p:txBody>
          <a:bodyPr/>
          <a:lstStyle/>
          <a:p>
            <a:pPr>
              <a:defRPr sz="1800"/>
            </a:pPr>
            <a:r>
              <a:t>Die Befestigung des Geländers an der Unterkonstruktion gehört zu den kritischsten Punkten der gesamten Planung. An den Anschlussstellen wirken Kräfte aus Personendruck, Windbelastung und temperaturbedingten Formänderungen des Holzes. Besonders gefährdet sind Bereiche, in denen Wasser eindringen und sich ansammeln kann. Deshalb müssen Stirnholzfächen geschützt, Abtropfkanten vorgesehen und ausreichende Hinterlüftung gewährleistet sein. Verdeckte Anschlüsse sollten so geplant werden, dass sie später kontrolliert werden können, ohne den gesamten Belag zu demontieren. Bei der Sanierung bestehender Balkone ist der Zustand der Anschlusspunkte vor 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Wichtige Anschlusspunkte am Holzbalkon</a:t>
            </a:r>
          </a:p>
        </p:txBody>
      </p:sp>
      <p:sp>
        <p:nvSpPr>
          <p:cNvPr id="3" name="Content Placeholder 2"/>
          <p:cNvSpPr>
            <a:spLocks noGrp="1"/>
          </p:cNvSpPr>
          <p:nvPr>
            <p:ph idx="1"/>
          </p:nvPr>
        </p:nvSpPr>
        <p:spPr/>
        <p:txBody>
          <a:bodyPr/>
          <a:lstStyle/>
          <a:p>
            <a:pPr>
              <a:defRPr sz="1800"/>
            </a:pPr>
            <a:r>
              <a:t>iner neuen Geländerbefestigung grundsätzlich zu prüfen.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von Holzgeländern</a:t>
            </a:r>
          </a:p>
        </p:txBody>
      </p:sp>
      <p:sp>
        <p:nvSpPr>
          <p:cNvPr id="3" name="Content Placeholder 2"/>
          <p:cNvSpPr>
            <a:spLocks noGrp="1"/>
          </p:cNvSpPr>
          <p:nvPr>
            <p:ph idx="1"/>
          </p:nvPr>
        </p:nvSpPr>
        <p:spPr/>
        <p:txBody>
          <a:bodyPr/>
          <a:lstStyle/>
          <a:p>
            <a:pPr>
              <a:defRPr sz="1800"/>
            </a:pPr>
            <a:r>
              <a:t>Ein Holzbalkon-Geländer ist der Witterung dauerhaft ausgesetzt und benötigt regelmäßige Pflege. Die Wartungsintervalle hängen von der Holzart, dem Oberflächenschutz und der Lage des Balkons ab. Typische Maßnahmen umfassen die Reinigung, die Prüfung auf Risse oder Lockerungen sowie die rechtzeitige Erneuerung von Anstrichen oder Lasuren. Dabei sollte auch der Zustand der Verbindungsmittel kontrolliert werden, da diese bei Feuchteeinwirkung korrodieren können. Eine Dokumentation der durchgeführten Wartungsarbeiten erleichtert die langfristige Instandhaltung und hilft, Probleme frühzeitig zu erkennen, bevor sie sich zu größeren Schäden entwickel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von Holzgeländern</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Planungsfehler vermeiden</a:t>
            </a:r>
          </a:p>
        </p:txBody>
      </p:sp>
      <p:sp>
        <p:nvSpPr>
          <p:cNvPr id="3" name="Content Placeholder 2"/>
          <p:cNvSpPr>
            <a:spLocks noGrp="1"/>
          </p:cNvSpPr>
          <p:nvPr>
            <p:ph idx="1"/>
          </p:nvPr>
        </p:nvSpPr>
        <p:spPr/>
        <p:txBody>
          <a:bodyPr/>
          <a:lstStyle/>
          <a:p>
            <a:pPr>
              <a:defRPr sz="1800"/>
            </a:pPr>
            <a:r>
              <a:t>In der Praxis treten bei Holzbalkon-Geländern immer wieder gleiche Fehler auf, die sich jedoch mit einer durchdachten Planung vermeiden lassen. Dazu gehört die nachträgliche Anbringung eines Geländers an einer nicht dafür ausgelegten Unterkonstruktion. Auch eine unzureichende Abstimmung der Geländerhöhe mit den Absturzhöhen führt zu Verzögerungen im Genehmigungsverfahren. Ein weiterer häufiger Fehler ist die Verwendung ungeeigneter Verbindungsmittel, die Kontaktkorrosion mit dem Holz verursachen oder bei Feuchteeinwirkung versagen. Wer diese Punkte bei der Planung berücksichtigt, spart sich spätere Nachbesserungen und zusätzliche Kosten.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Holzbalkon-Geländer planen: Höhe, Befestigung und baurechtliche Anforderungen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