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nrw/nachtraege-holzbau-angebote-checkliste/" TargetMode="External"/><Relationship Id="rId3" Type="http://schemas.openxmlformats.org/officeDocument/2006/relationships/hyperlink" Target="https://holzundhaus.github.io/1aholzbaunrw/dateien/minimax-61e4685b4c9b694a1504d70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Nachträge im Holzbau: Welche Positionen in Angeboten oft fehlen · Erklärende Präsentation</a:t>
            </a:r>
          </a:p>
        </p:txBody>
      </p:sp>
      <p:sp>
        <p:nvSpPr>
          <p:cNvPr id="3" name="Content Placeholder 2"/>
          <p:cNvSpPr>
            <a:spLocks noGrp="1"/>
          </p:cNvSpPr>
          <p:nvPr>
            <p:ph idx="1"/>
          </p:nvPr>
        </p:nvSpPr>
        <p:spPr/>
        <p:txBody>
          <a:bodyPr/>
          <a:lstStyle/>
          <a:p>
            <a:r>
              <a:t>Überblick: Im Holzbau entstehen Nachträge häufig nicht, weil eine einzelne Leistung fehlerhaft geplant wurde, sondern weil der Umfang an den Übergängen zwischen Gewerken und Arbeitsbereichen nicht eindeutig beschrieben ist. Gründung, Dach, Fassade, Fenster und Innenausbau können in getrennten Angeboten enthalten sein. Wer die Zuständigkeiten, Zugänglichkeiten und Schutzmaßnahmen bereits vor der Vergabe klärt, reduziert das Risiko, dass Zusatzleistungen während der Ausführung nachträglich beauftragt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Leistungsgrenzen vor dem Vergleich festlegen</a:t>
            </a:r>
          </a:p>
        </p:txBody>
      </p:sp>
      <p:sp>
        <p:nvSpPr>
          <p:cNvPr id="3" name="Content Placeholder 2"/>
          <p:cNvSpPr>
            <a:spLocks noGrp="1"/>
          </p:cNvSpPr>
          <p:nvPr>
            <p:ph idx="1"/>
          </p:nvPr>
        </p:nvSpPr>
        <p:spPr/>
        <p:txBody>
          <a:bodyPr/>
          <a:lstStyle/>
          <a:p>
            <a:pPr>
              <a:defRPr sz="1800"/>
            </a:pPr>
            <a:r>
              <a:t>Ein Vergleich von Holzbau-Angeboten ist erst sinnvoll, wenn die enthaltenen, ausgeschlossenen und bauseits erwarteten Leistungen bekannt sind. Dazu gehören etwa Gerüst und Hebezeug, Baustellenzufahrt, Lagerflächen, Bau-WC, Strom- und Wasseranschluss sowie Demontage und Entsorgung. Auch Rückbau, Containerstellung und Schutz angrenzender Bauteile müssen eindeutig zugeordnet sein. Enthält ein Angebot mehr Arbeiten, kann die Endsumme trotzdem höher ausfallen, weil der Gesamtumfang unterschiedlich ist. Angebote sollten deshalb Position für Position anhand derselben Checkliste verglichen werden. Unklare Formulierungen lassen sich vor Vertragsabschl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Leistungsgrenzen vor dem Vergleich festlegen</a:t>
            </a:r>
          </a:p>
        </p:txBody>
      </p:sp>
      <p:sp>
        <p:nvSpPr>
          <p:cNvPr id="3" name="Content Placeholder 2"/>
          <p:cNvSpPr>
            <a:spLocks noGrp="1"/>
          </p:cNvSpPr>
          <p:nvPr>
            <p:ph idx="1"/>
          </p:nvPr>
        </p:nvSpPr>
        <p:spPr/>
        <p:txBody>
          <a:bodyPr/>
          <a:lstStyle/>
          <a:p>
            <a:pPr>
              <a:defRPr sz="1800"/>
            </a:pPr>
            <a:r>
              <a:t>uss gezielt durch Rückfragen zu enthaltenen Leistungen, Ausschlüssen, Mengen und Voraussetzungen präzisieren.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zwischen den Gewerken benennen</a:t>
            </a:r>
          </a:p>
        </p:txBody>
      </p:sp>
      <p:sp>
        <p:nvSpPr>
          <p:cNvPr id="3" name="Content Placeholder 2"/>
          <p:cNvSpPr>
            <a:spLocks noGrp="1"/>
          </p:cNvSpPr>
          <p:nvPr>
            <p:ph idx="1"/>
          </p:nvPr>
        </p:nvSpPr>
        <p:spPr/>
        <p:txBody>
          <a:bodyPr/>
          <a:lstStyle/>
          <a:p>
            <a:pPr>
              <a:defRPr sz="1800"/>
            </a:pPr>
            <a:r>
              <a:t>Besonders wichtig sind die Bauteilränder zwischen Zimmerer, Dachdecker, Gerüstbau und weiteren Gewerken. Für Anschlussfugen zwischen Alt- und Neubau, die Wasserführung an Dachflächen, Sockeln oder Fenstern sowie die Luftdichte Ebene an Durchdringungen sollte bereits im Angebot stehen, wer die Ausführung übernimmt. Ebenso klar zu regeln sind die Reduzierung von Wärmebrücken an Traufe, Giebel und Sockel sowie die zeitliche Abfolge der Arbeiten. Fehlt diese Zuordnung, wird sie möglicherweise erst auf der Baustelle zwischen den beteiligten Firmen geklärt. Ein Angebot kann dadurch sachlich vollständig wirken, obwohl eine notwendige Anschlussleistu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zwischen den Gewerken benennen</a:t>
            </a:r>
          </a:p>
        </p:txBody>
      </p:sp>
      <p:sp>
        <p:nvSpPr>
          <p:cNvPr id="3" name="Content Placeholder 2"/>
          <p:cNvSpPr>
            <a:spLocks noGrp="1"/>
          </p:cNvSpPr>
          <p:nvPr>
            <p:ph idx="1"/>
          </p:nvPr>
        </p:nvSpPr>
        <p:spPr/>
        <p:txBody>
          <a:bodyPr/>
          <a:lstStyle/>
          <a:p>
            <a:pPr>
              <a:defRPr sz="1800"/>
            </a:pPr>
            <a:r>
              <a:t>ng niemandem ausdrücklich zugewiesen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Zugänglichkeit und Baustellenbedingungen einplanen</a:t>
            </a:r>
          </a:p>
        </p:txBody>
      </p:sp>
      <p:sp>
        <p:nvSpPr>
          <p:cNvPr id="3" name="Content Placeholder 2"/>
          <p:cNvSpPr>
            <a:spLocks noGrp="1"/>
          </p:cNvSpPr>
          <p:nvPr>
            <p:ph idx="1"/>
          </p:nvPr>
        </p:nvSpPr>
        <p:spPr/>
        <p:txBody>
          <a:bodyPr/>
          <a:lstStyle/>
          <a:p>
            <a:pPr>
              <a:defRPr sz="1800"/>
            </a:pPr>
            <a:r>
              <a:t>Auch die räumlichen Bedingungen beeinflussen den Aufwand. Kranstandplatz, Aufstellflächen für Krane, Hebebühnen oder Stapler sowie die Erreichbarkeit einzelner Bauteile müssen rechtzeitig geklärt werden. Das gilt auch für temporäre Sicherung, Beweissicherung und Schutz bewohnter oder angrenzender Bereiche. Gerüste und Dachfanggerüste sind nicht automatisch Bestandteil jedes Holzangebots. Ebenso können temporäre Abdeckungen, ein Notdach sowie Schutz und Rücktrocknung feuchter Bauteile fehlen. Diese Punkte sollten nicht als nebensächliche Baustellenannahmen behandelt werden, sondern als benannte Leistungen oder Voraussetzungen in der Angebotspr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Zugänglichkeit und Baustellenbedingungen einplanen</a:t>
            </a:r>
          </a:p>
        </p:txBody>
      </p:sp>
      <p:sp>
        <p:nvSpPr>
          <p:cNvPr id="3" name="Content Placeholder 2"/>
          <p:cNvSpPr>
            <a:spLocks noGrp="1"/>
          </p:cNvSpPr>
          <p:nvPr>
            <p:ph idx="1"/>
          </p:nvPr>
        </p:nvSpPr>
        <p:spPr/>
        <p:txBody>
          <a:bodyPr/>
          <a:lstStyle/>
          <a:p>
            <a:pPr>
              <a:defRPr sz="1800"/>
            </a:pPr>
            <a:r>
              <a:t>üfung erscheinen.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Witterungsschutz und Unterlagen nachvollziehbar festhalten</a:t>
            </a:r>
          </a:p>
        </p:txBody>
      </p:sp>
      <p:sp>
        <p:nvSpPr>
          <p:cNvPr id="3" name="Content Placeholder 2"/>
          <p:cNvSpPr>
            <a:spLocks noGrp="1"/>
          </p:cNvSpPr>
          <p:nvPr>
            <p:ph idx="1"/>
          </p:nvPr>
        </p:nvSpPr>
        <p:spPr/>
        <p:txBody>
          <a:bodyPr/>
          <a:lstStyle/>
          <a:p>
            <a:pPr>
              <a:defRPr sz="1800"/>
            </a:pPr>
            <a:r>
              <a:t>Holzbauarbeiten sind häufig von Witterung und Lagerbedingungen betroffen. Im Angebot sollte daher geregelt werden, wie gelagerte und montierte Hölzer vor Nässe geschützt, welche Abdeckungen während der Bauzeit vorgesehen und welche Maßnahmen bei eingedrungener Feuchtigkeit erforderlich sind. Hilfreich sind außerdem Aussagen zu Transport, Lagerort, Montagefolge und Reinigung nach Bauabschluss. Bei einer Verlängerung der Bauzeit können zusätzliche Vorhaltezeiten entstehen. Diese sollten als eigene Position erkennbar sein. Für die weitere Kostenplanung bietet der verknüpfte Holzbau-Kosten-Ratgeber eine systematische Übersicht; bei der Auswahl ei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Witterungsschutz und Unterlagen nachvollziehbar festhalten</a:t>
            </a:r>
          </a:p>
        </p:txBody>
      </p:sp>
      <p:sp>
        <p:nvSpPr>
          <p:cNvPr id="3" name="Content Placeholder 2"/>
          <p:cNvSpPr>
            <a:spLocks noGrp="1"/>
          </p:cNvSpPr>
          <p:nvPr>
            <p:ph idx="1"/>
          </p:nvPr>
        </p:nvSpPr>
        <p:spPr/>
        <p:txBody>
          <a:bodyPr/>
          <a:lstStyle/>
          <a:p>
            <a:pPr>
              <a:defRPr sz="1800"/>
            </a:pPr>
            <a:r>
              <a:t>nes Angebots bleibt die detaillierte Prüfung der Leistungsgrenzen dennoch der entscheidende Schritt.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Nachträge im Holzbau: Welche Positionen in Angeboten oft fehlen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